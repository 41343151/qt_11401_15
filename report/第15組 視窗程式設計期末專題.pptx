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to Serif Display Semi-Bold Italics" charset="1" panose="02020702080505090204"/>
      <p:regular r:id="rId15"/>
    </p:embeddedFont>
    <p:embeddedFont>
      <p:font typeface="Public Sans Bold" charset="1" panose="00000000000000000000"/>
      <p:regular r:id="rId16"/>
    </p:embeddedFont>
    <p:embeddedFont>
      <p:font typeface="Public Sans" charset="1" panose="00000000000000000000"/>
      <p:regular r:id="rId17"/>
    </p:embeddedFont>
    <p:embeddedFont>
      <p:font typeface="Lexend Deca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005009"/>
            <a:ext cx="13919249" cy="377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0"/>
              </a:lnSpc>
            </a:pPr>
            <a:r>
              <a:rPr lang="en-US" b="true" sz="13400" i="true" spc="-65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期末專題</a:t>
            </a:r>
          </a:p>
          <a:p>
            <a:pPr algn="l">
              <a:lnSpc>
                <a:spcPts val="14740"/>
              </a:lnSpc>
            </a:pPr>
            <a:r>
              <a:rPr lang="en-US" b="true" sz="13400" i="true" spc="-65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視窗程式設計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50058" y="1766055"/>
            <a:ext cx="5181665" cy="5181665"/>
          </a:xfrm>
          <a:custGeom>
            <a:avLst/>
            <a:gdLst/>
            <a:ahLst/>
            <a:cxnLst/>
            <a:rect r="r" b="b" t="t" l="l"/>
            <a:pathLst>
              <a:path h="5181665" w="5181665">
                <a:moveTo>
                  <a:pt x="0" y="0"/>
                </a:moveTo>
                <a:lnTo>
                  <a:pt x="5181666" y="0"/>
                </a:lnTo>
                <a:lnTo>
                  <a:pt x="5181666" y="5181666"/>
                </a:lnTo>
                <a:lnTo>
                  <a:pt x="0" y="5181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22482" y="8247181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Presented by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23435" y="8743950"/>
            <a:ext cx="94358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41343106 丁祥誌 41343149 賴佳暐  41343151 鍾定志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26500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2026/01/05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637226" y="5252547"/>
            <a:ext cx="6413748" cy="0"/>
          </a:xfrm>
          <a:prstGeom prst="line">
            <a:avLst/>
          </a:prstGeom>
          <a:ln cap="flat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637226" y="6115777"/>
            <a:ext cx="6413748" cy="0"/>
          </a:xfrm>
          <a:prstGeom prst="line">
            <a:avLst/>
          </a:prstGeom>
          <a:ln cap="flat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637226" y="6979883"/>
            <a:ext cx="6413748" cy="0"/>
          </a:xfrm>
          <a:prstGeom prst="line">
            <a:avLst/>
          </a:prstGeom>
          <a:ln cap="flat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637226" y="7843882"/>
            <a:ext cx="6413748" cy="0"/>
          </a:xfrm>
          <a:prstGeom prst="line">
            <a:avLst/>
          </a:prstGeom>
          <a:ln cap="flat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637226" y="8707881"/>
            <a:ext cx="6413748" cy="0"/>
          </a:xfrm>
          <a:prstGeom prst="line">
            <a:avLst/>
          </a:prstGeom>
          <a:ln cap="flat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4191083" y="6095917"/>
            <a:ext cx="8382166" cy="8382166"/>
          </a:xfrm>
          <a:custGeom>
            <a:avLst/>
            <a:gdLst/>
            <a:ahLst/>
            <a:cxnLst/>
            <a:rect r="r" b="b" t="t" l="l"/>
            <a:pathLst>
              <a:path h="8382166" w="8382166">
                <a:moveTo>
                  <a:pt x="0" y="0"/>
                </a:moveTo>
                <a:lnTo>
                  <a:pt x="8382166" y="0"/>
                </a:lnTo>
                <a:lnTo>
                  <a:pt x="8382166" y="8382166"/>
                </a:lnTo>
                <a:lnTo>
                  <a:pt x="0" y="83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58154"/>
            <a:ext cx="1391924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0"/>
              </a:lnSpc>
            </a:pPr>
            <a:r>
              <a:rPr lang="en-US" b="true" sz="13500" i="true" spc="-661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目錄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8679763" y="3657517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631469" y="5580494"/>
            <a:ext cx="3356856" cy="2798778"/>
          </a:xfrm>
          <a:custGeom>
            <a:avLst/>
            <a:gdLst/>
            <a:ahLst/>
            <a:cxnLst/>
            <a:rect r="r" b="b" t="t" l="l"/>
            <a:pathLst>
              <a:path h="2798778" w="3356856">
                <a:moveTo>
                  <a:pt x="0" y="0"/>
                </a:moveTo>
                <a:lnTo>
                  <a:pt x="3356856" y="0"/>
                </a:lnTo>
                <a:lnTo>
                  <a:pt x="3356856" y="2798778"/>
                </a:lnTo>
                <a:lnTo>
                  <a:pt x="0" y="2798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16008" y="5293828"/>
            <a:ext cx="6434966" cy="6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65"/>
              </a:lnSpc>
            </a:pPr>
            <a:r>
              <a:rPr lang="en-US" sz="3832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需要甚麼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6008" y="4429829"/>
            <a:ext cx="6434966" cy="6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65"/>
              </a:lnSpc>
            </a:pPr>
            <a:r>
              <a:rPr lang="en-US" sz="3832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動機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826500"/>
            <a:ext cx="309165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January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16008" y="6182452"/>
            <a:ext cx="6434966" cy="6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65"/>
              </a:lnSpc>
            </a:pPr>
            <a:r>
              <a:rPr lang="en-US" sz="3832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如何實現月曆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37226" y="7017983"/>
            <a:ext cx="6434966" cy="6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65"/>
              </a:lnSpc>
            </a:pPr>
            <a:r>
              <a:rPr lang="en-US" sz="3832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任務清單實現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79763" y="7910557"/>
            <a:ext cx="6434966" cy="6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65"/>
              </a:lnSpc>
            </a:pPr>
            <a:r>
              <a:rPr lang="en-US" sz="3832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額外功能實現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79763" y="8745981"/>
            <a:ext cx="6434966" cy="66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65"/>
              </a:lnSpc>
            </a:pPr>
            <a:r>
              <a:rPr lang="en-US" sz="3832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程式DEMO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3799"/>
            <a:ext cx="1129339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動機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691033" y="2965324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351406" y="7908345"/>
            <a:ext cx="2045643" cy="2378655"/>
          </a:xfrm>
          <a:custGeom>
            <a:avLst/>
            <a:gdLst/>
            <a:ahLst/>
            <a:cxnLst/>
            <a:rect r="r" b="b" t="t" l="l"/>
            <a:pathLst>
              <a:path h="2378655" w="2045643">
                <a:moveTo>
                  <a:pt x="0" y="0"/>
                </a:moveTo>
                <a:lnTo>
                  <a:pt x="2045643" y="0"/>
                </a:lnTo>
                <a:lnTo>
                  <a:pt x="2045643" y="2378655"/>
                </a:lnTo>
                <a:lnTo>
                  <a:pt x="0" y="237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157498"/>
            <a:ext cx="16230600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在現代生活中，學生與上班族往往同時需要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兼顧課業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、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工作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與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個人生活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，面對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大量的待辦事項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，很容易因為事情繁忙而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忘記原本應該完成的任務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。即使知道「還有事情沒做」，卻常常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記不起來是什麼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、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什麼時候要做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，導致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重要事項被忽略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。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為了解決上述問題，本系統以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行事曆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為核心，結合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任務清單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與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提醒機制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，讓使用者能夠將待辦事項具體地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安排在日期與時間上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。透過系統的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自動提醒功能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，使用者不再需要單靠記憶來管理行程，而是能夠更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有效率地規劃時間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</a:t>
            </a:r>
            <a:r>
              <a:rPr lang="en-US" sz="27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降低遺漏事項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的風險。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8055379"/>
            <a:ext cx="2231621" cy="2231621"/>
          </a:xfrm>
          <a:custGeom>
            <a:avLst/>
            <a:gdLst/>
            <a:ahLst/>
            <a:cxnLst/>
            <a:rect r="r" b="b" t="t" l="l"/>
            <a:pathLst>
              <a:path h="2231621" w="2231621">
                <a:moveTo>
                  <a:pt x="0" y="0"/>
                </a:moveTo>
                <a:lnTo>
                  <a:pt x="2231621" y="0"/>
                </a:lnTo>
                <a:lnTo>
                  <a:pt x="2231621" y="2231621"/>
                </a:lnTo>
                <a:lnTo>
                  <a:pt x="0" y="2231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43300"/>
            <a:ext cx="1129339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需要甚麼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2222482" y="4291012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102091" y="2945044"/>
            <a:ext cx="3238978" cy="2198456"/>
          </a:xfrm>
          <a:custGeom>
            <a:avLst/>
            <a:gdLst/>
            <a:ahLst/>
            <a:cxnLst/>
            <a:rect r="r" b="b" t="t" l="l"/>
            <a:pathLst>
              <a:path h="2198456" w="3238978">
                <a:moveTo>
                  <a:pt x="0" y="0"/>
                </a:moveTo>
                <a:lnTo>
                  <a:pt x="3238978" y="0"/>
                </a:lnTo>
                <a:lnTo>
                  <a:pt x="3238978" y="2198456"/>
                </a:lnTo>
                <a:lnTo>
                  <a:pt x="0" y="2198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60981" y="2076490"/>
            <a:ext cx="2851382" cy="2238335"/>
          </a:xfrm>
          <a:custGeom>
            <a:avLst/>
            <a:gdLst/>
            <a:ahLst/>
            <a:cxnLst/>
            <a:rect r="r" b="b" t="t" l="l"/>
            <a:pathLst>
              <a:path h="2238335" w="2851382">
                <a:moveTo>
                  <a:pt x="0" y="0"/>
                </a:moveTo>
                <a:lnTo>
                  <a:pt x="2851382" y="0"/>
                </a:lnTo>
                <a:lnTo>
                  <a:pt x="2851382" y="2238335"/>
                </a:lnTo>
                <a:lnTo>
                  <a:pt x="0" y="2238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512050"/>
            <a:ext cx="481231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顯示當日任務清單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可切換年月份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日期選取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7843" y="7512050"/>
            <a:ext cx="5206451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任務分類:優先、一般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任務顏色、類別、時間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deadline多天任務拆分機制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任務順序(未完成先前任務將無法勾選完成)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5507" y="7512050"/>
            <a:ext cx="481231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勾選是否完成任務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刪除/搜尋/過濾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自動加入國定假日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966120"/>
            <a:ext cx="48123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月曆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37843" y="5966120"/>
            <a:ext cx="48123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任務清單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45507" y="5966120"/>
            <a:ext cx="48123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額外功能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928023" y="4157058"/>
            <a:ext cx="0" cy="553939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" id="3"/>
          <p:cNvSpPr/>
          <p:nvPr/>
        </p:nvSpPr>
        <p:spPr>
          <a:xfrm rot="0">
            <a:off x="10138767" y="4142770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138767" y="6212870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138767" y="8283273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77775" y="1954411"/>
            <a:ext cx="5789653" cy="7802543"/>
          </a:xfrm>
          <a:custGeom>
            <a:avLst/>
            <a:gdLst/>
            <a:ahLst/>
            <a:cxnLst/>
            <a:rect r="r" b="b" t="t" l="l"/>
            <a:pathLst>
              <a:path h="7802543" w="5789653">
                <a:moveTo>
                  <a:pt x="0" y="0"/>
                </a:moveTo>
                <a:lnTo>
                  <a:pt x="5789653" y="0"/>
                </a:lnTo>
                <a:lnTo>
                  <a:pt x="5789653" y="7802543"/>
                </a:lnTo>
                <a:lnTo>
                  <a:pt x="0" y="7802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92857" y="698840"/>
            <a:ext cx="1803259" cy="1803259"/>
          </a:xfrm>
          <a:custGeom>
            <a:avLst/>
            <a:gdLst/>
            <a:ahLst/>
            <a:cxnLst/>
            <a:rect r="r" b="b" t="t" l="l"/>
            <a:pathLst>
              <a:path h="1803259" w="1803259">
                <a:moveTo>
                  <a:pt x="0" y="0"/>
                </a:moveTo>
                <a:lnTo>
                  <a:pt x="1803259" y="0"/>
                </a:lnTo>
                <a:lnTo>
                  <a:pt x="1803259" y="1803259"/>
                </a:lnTo>
                <a:lnTo>
                  <a:pt x="0" y="18032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71550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38767" y="1397199"/>
            <a:ext cx="712053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71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如何實現月曆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8767" y="4247545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當日期變更時，系統會從任務資料中篩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選出與選取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日期相符的事項，並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即時更新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右側的任務清單，讓使用者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清楚查看當日所有行程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38767" y="3494768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顯示當日任務清單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8767" y="6317947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QCalendarWidget 內建年與月份切換功能，使用者可快速瀏覽不同月份或年份的日期，而不影響原有任務資料的內容。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8767" y="5565170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可切換年月份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38767" y="8388350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系統透過 QCalendarWidget 提供月曆介面，使用者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可直接點選指定日期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，系統會即時取得目前選取的日期作為任務查詢依據。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38767" y="7635573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日期選取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4972" y="4220428"/>
            <a:ext cx="3991864" cy="6092732"/>
            <a:chOff x="0" y="0"/>
            <a:chExt cx="3019851" cy="4609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9851" cy="4609161"/>
            </a:xfrm>
            <a:custGeom>
              <a:avLst/>
              <a:gdLst/>
              <a:ahLst/>
              <a:cxnLst/>
              <a:rect r="r" b="b" t="t" l="l"/>
              <a:pathLst>
                <a:path h="4609161" w="3019851">
                  <a:moveTo>
                    <a:pt x="2895391" y="59690"/>
                  </a:moveTo>
                  <a:cubicBezTo>
                    <a:pt x="2930951" y="59690"/>
                    <a:pt x="2960161" y="88900"/>
                    <a:pt x="2960161" y="124460"/>
                  </a:cubicBezTo>
                  <a:lnTo>
                    <a:pt x="2960161" y="4484701"/>
                  </a:lnTo>
                  <a:cubicBezTo>
                    <a:pt x="2960161" y="4520261"/>
                    <a:pt x="2930951" y="4549471"/>
                    <a:pt x="2895391" y="4549471"/>
                  </a:cubicBezTo>
                  <a:lnTo>
                    <a:pt x="124460" y="4549471"/>
                  </a:lnTo>
                  <a:cubicBezTo>
                    <a:pt x="88900" y="4549471"/>
                    <a:pt x="59690" y="4520261"/>
                    <a:pt x="59690" y="448470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895391" y="59690"/>
                  </a:lnTo>
                  <a:moveTo>
                    <a:pt x="289539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484701"/>
                  </a:lnTo>
                  <a:cubicBezTo>
                    <a:pt x="0" y="4553281"/>
                    <a:pt x="55880" y="4609161"/>
                    <a:pt x="124460" y="4609161"/>
                  </a:cubicBezTo>
                  <a:lnTo>
                    <a:pt x="2895391" y="4609161"/>
                  </a:lnTo>
                  <a:cubicBezTo>
                    <a:pt x="2963971" y="4609161"/>
                    <a:pt x="3019851" y="4553281"/>
                    <a:pt x="3019851" y="4484701"/>
                  </a:cubicBezTo>
                  <a:lnTo>
                    <a:pt x="3019851" y="124460"/>
                  </a:lnTo>
                  <a:cubicBezTo>
                    <a:pt x="3019851" y="55880"/>
                    <a:pt x="2963971" y="0"/>
                    <a:pt x="289539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54548" y="4233509"/>
            <a:ext cx="4056523" cy="6066572"/>
            <a:chOff x="0" y="0"/>
            <a:chExt cx="3068765" cy="45893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68766" cy="4589371"/>
            </a:xfrm>
            <a:custGeom>
              <a:avLst/>
              <a:gdLst/>
              <a:ahLst/>
              <a:cxnLst/>
              <a:rect r="r" b="b" t="t" l="l"/>
              <a:pathLst>
                <a:path h="4589371" w="3068766">
                  <a:moveTo>
                    <a:pt x="2944305" y="59690"/>
                  </a:moveTo>
                  <a:cubicBezTo>
                    <a:pt x="2979865" y="59690"/>
                    <a:pt x="3009075" y="88900"/>
                    <a:pt x="3009075" y="124460"/>
                  </a:cubicBezTo>
                  <a:lnTo>
                    <a:pt x="3009075" y="4464910"/>
                  </a:lnTo>
                  <a:cubicBezTo>
                    <a:pt x="3009075" y="4500471"/>
                    <a:pt x="2979865" y="4529680"/>
                    <a:pt x="2944305" y="4529680"/>
                  </a:cubicBezTo>
                  <a:lnTo>
                    <a:pt x="124460" y="4529680"/>
                  </a:lnTo>
                  <a:cubicBezTo>
                    <a:pt x="88900" y="4529680"/>
                    <a:pt x="59690" y="4500471"/>
                    <a:pt x="59690" y="446491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944305" y="59690"/>
                  </a:lnTo>
                  <a:moveTo>
                    <a:pt x="294430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464910"/>
                  </a:lnTo>
                  <a:cubicBezTo>
                    <a:pt x="0" y="4533490"/>
                    <a:pt x="55880" y="4589371"/>
                    <a:pt x="124460" y="4589371"/>
                  </a:cubicBezTo>
                  <a:lnTo>
                    <a:pt x="2944306" y="4589371"/>
                  </a:lnTo>
                  <a:cubicBezTo>
                    <a:pt x="3012885" y="4589371"/>
                    <a:pt x="3068766" y="4533490"/>
                    <a:pt x="3068766" y="4464910"/>
                  </a:cubicBezTo>
                  <a:lnTo>
                    <a:pt x="3068766" y="124460"/>
                  </a:lnTo>
                  <a:cubicBezTo>
                    <a:pt x="3068765" y="55880"/>
                    <a:pt x="3012885" y="0"/>
                    <a:pt x="2944305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72996" y="4246589"/>
            <a:ext cx="4056523" cy="6066572"/>
            <a:chOff x="0" y="0"/>
            <a:chExt cx="3068765" cy="4589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8766" cy="4589371"/>
            </a:xfrm>
            <a:custGeom>
              <a:avLst/>
              <a:gdLst/>
              <a:ahLst/>
              <a:cxnLst/>
              <a:rect r="r" b="b" t="t" l="l"/>
              <a:pathLst>
                <a:path h="4589371" w="3068766">
                  <a:moveTo>
                    <a:pt x="2944305" y="59690"/>
                  </a:moveTo>
                  <a:cubicBezTo>
                    <a:pt x="2979865" y="59690"/>
                    <a:pt x="3009075" y="88900"/>
                    <a:pt x="3009075" y="124460"/>
                  </a:cubicBezTo>
                  <a:lnTo>
                    <a:pt x="3009075" y="4464910"/>
                  </a:lnTo>
                  <a:cubicBezTo>
                    <a:pt x="3009075" y="4500471"/>
                    <a:pt x="2979865" y="4529680"/>
                    <a:pt x="2944305" y="4529680"/>
                  </a:cubicBezTo>
                  <a:lnTo>
                    <a:pt x="124460" y="4529680"/>
                  </a:lnTo>
                  <a:cubicBezTo>
                    <a:pt x="88900" y="4529680"/>
                    <a:pt x="59690" y="4500471"/>
                    <a:pt x="59690" y="446491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944305" y="59690"/>
                  </a:lnTo>
                  <a:moveTo>
                    <a:pt x="294430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464910"/>
                  </a:lnTo>
                  <a:cubicBezTo>
                    <a:pt x="0" y="4533490"/>
                    <a:pt x="55880" y="4589371"/>
                    <a:pt x="124460" y="4589371"/>
                  </a:cubicBezTo>
                  <a:lnTo>
                    <a:pt x="2944306" y="4589371"/>
                  </a:lnTo>
                  <a:cubicBezTo>
                    <a:pt x="3012885" y="4589371"/>
                    <a:pt x="3068766" y="4533490"/>
                    <a:pt x="3068766" y="4464910"/>
                  </a:cubicBezTo>
                  <a:lnTo>
                    <a:pt x="3068766" y="124460"/>
                  </a:lnTo>
                  <a:cubicBezTo>
                    <a:pt x="3068765" y="55880"/>
                    <a:pt x="3012885" y="0"/>
                    <a:pt x="2944305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88631" y="4246589"/>
            <a:ext cx="4035081" cy="6066572"/>
            <a:chOff x="0" y="0"/>
            <a:chExt cx="3052544" cy="4589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2544" cy="4589371"/>
            </a:xfrm>
            <a:custGeom>
              <a:avLst/>
              <a:gdLst/>
              <a:ahLst/>
              <a:cxnLst/>
              <a:rect r="r" b="b" t="t" l="l"/>
              <a:pathLst>
                <a:path h="4589371" w="3052544">
                  <a:moveTo>
                    <a:pt x="2928084" y="59690"/>
                  </a:moveTo>
                  <a:cubicBezTo>
                    <a:pt x="2963644" y="59690"/>
                    <a:pt x="2992854" y="88900"/>
                    <a:pt x="2992854" y="124460"/>
                  </a:cubicBezTo>
                  <a:lnTo>
                    <a:pt x="2992854" y="4464910"/>
                  </a:lnTo>
                  <a:cubicBezTo>
                    <a:pt x="2992854" y="4500471"/>
                    <a:pt x="2963644" y="4529680"/>
                    <a:pt x="2928084" y="4529680"/>
                  </a:cubicBezTo>
                  <a:lnTo>
                    <a:pt x="124460" y="4529680"/>
                  </a:lnTo>
                  <a:cubicBezTo>
                    <a:pt x="88900" y="4529680"/>
                    <a:pt x="59690" y="4500471"/>
                    <a:pt x="59690" y="446491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928084" y="59690"/>
                  </a:lnTo>
                  <a:moveTo>
                    <a:pt x="292808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464910"/>
                  </a:lnTo>
                  <a:cubicBezTo>
                    <a:pt x="0" y="4533490"/>
                    <a:pt x="55880" y="4589371"/>
                    <a:pt x="124460" y="4589371"/>
                  </a:cubicBezTo>
                  <a:lnTo>
                    <a:pt x="2928084" y="4589371"/>
                  </a:lnTo>
                  <a:cubicBezTo>
                    <a:pt x="2996664" y="4589371"/>
                    <a:pt x="3052544" y="4533490"/>
                    <a:pt x="3052544" y="4464910"/>
                  </a:cubicBezTo>
                  <a:lnTo>
                    <a:pt x="3052544" y="124460"/>
                  </a:lnTo>
                  <a:cubicBezTo>
                    <a:pt x="3052544" y="55880"/>
                    <a:pt x="2996664" y="0"/>
                    <a:pt x="292808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10" id="10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139255" y="4520465"/>
            <a:ext cx="1954898" cy="2369574"/>
          </a:xfrm>
          <a:custGeom>
            <a:avLst/>
            <a:gdLst/>
            <a:ahLst/>
            <a:cxnLst/>
            <a:rect r="r" b="b" t="t" l="l"/>
            <a:pathLst>
              <a:path h="2369574" w="1954898">
                <a:moveTo>
                  <a:pt x="0" y="0"/>
                </a:moveTo>
                <a:lnTo>
                  <a:pt x="1954898" y="0"/>
                </a:lnTo>
                <a:lnTo>
                  <a:pt x="1954898" y="2369573"/>
                </a:lnTo>
                <a:lnTo>
                  <a:pt x="0" y="2369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3473" y="4403548"/>
            <a:ext cx="2603408" cy="2603408"/>
          </a:xfrm>
          <a:custGeom>
            <a:avLst/>
            <a:gdLst/>
            <a:ahLst/>
            <a:cxnLst/>
            <a:rect r="r" b="b" t="t" l="l"/>
            <a:pathLst>
              <a:path h="2603408" w="2603408">
                <a:moveTo>
                  <a:pt x="0" y="0"/>
                </a:moveTo>
                <a:lnTo>
                  <a:pt x="2603407" y="0"/>
                </a:lnTo>
                <a:lnTo>
                  <a:pt x="2603407" y="2603407"/>
                </a:lnTo>
                <a:lnTo>
                  <a:pt x="0" y="2603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19765" y="4419712"/>
            <a:ext cx="2571078" cy="2571078"/>
          </a:xfrm>
          <a:custGeom>
            <a:avLst/>
            <a:gdLst/>
            <a:ahLst/>
            <a:cxnLst/>
            <a:rect r="r" b="b" t="t" l="l"/>
            <a:pathLst>
              <a:path h="2571078" w="2571078">
                <a:moveTo>
                  <a:pt x="0" y="0"/>
                </a:moveTo>
                <a:lnTo>
                  <a:pt x="2571078" y="0"/>
                </a:lnTo>
                <a:lnTo>
                  <a:pt x="2571078" y="2571078"/>
                </a:lnTo>
                <a:lnTo>
                  <a:pt x="0" y="2571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117549" y="4419712"/>
            <a:ext cx="2415393" cy="2542519"/>
          </a:xfrm>
          <a:custGeom>
            <a:avLst/>
            <a:gdLst/>
            <a:ahLst/>
            <a:cxnLst/>
            <a:rect r="r" b="b" t="t" l="l"/>
            <a:pathLst>
              <a:path h="2542519" w="2415393">
                <a:moveTo>
                  <a:pt x="0" y="0"/>
                </a:moveTo>
                <a:lnTo>
                  <a:pt x="2415394" y="0"/>
                </a:lnTo>
                <a:lnTo>
                  <a:pt x="2415394" y="2542520"/>
                </a:lnTo>
                <a:lnTo>
                  <a:pt x="0" y="25425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61244" y="2238933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任務清單實現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123" y="6987905"/>
            <a:ext cx="38517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任務分類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62170" y="6987905"/>
            <a:ext cx="38517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任務顏色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75253" y="6987905"/>
            <a:ext cx="386010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deadline任務拆分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92530" y="6987905"/>
            <a:ext cx="38517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任務順序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6533" y="7510632"/>
            <a:ext cx="3848743" cy="279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透過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自訂 Task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結構中的 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category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欄位儲存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分類資訊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，新增任務時將使用者輸入的分類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字串寫入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，顯示時由程式將該欄位組合成顯示文字。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8438" y="7397480"/>
            <a:ext cx="3848743" cy="279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使用 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QColorDialog 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取得使用者選擇的顏色，並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以字串形式儲存在任務資料中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</a:t>
            </a:r>
          </a:p>
          <a:p>
            <a:pPr algn="l">
              <a:lnSpc>
                <a:spcPts val="3708"/>
              </a:lnSpc>
            </a:pP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顯示任務時再使用 QTreeWidgetItem::setForeground() 套用顏色。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75253" y="7416530"/>
            <a:ext cx="3848743" cy="279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當啟用 deadline 功能時，程式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透過迴圈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將一筆任務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拆分成多筆資料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，分別設定不同日期，並使用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相同的群組識別碼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（groupId）建立關聯。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1799" y="7416530"/>
            <a:ext cx="3848743" cy="279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透過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群組識別碼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（groupId）與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步驟索引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（stepIndex）建立任務依賴關係，在勾選任務完成時</a:t>
            </a:r>
            <a:r>
              <a:rPr lang="en-US" sz="2649" spc="-180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檢查是否存在尚未完成的前置任務</a:t>
            </a:r>
            <a:r>
              <a:rPr lang="en-US" sz="2649" spc="-18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，以控制完成順序。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142191" y="6840110"/>
            <a:ext cx="21102617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796403" y="6642712"/>
            <a:ext cx="493026" cy="394795"/>
            <a:chOff x="0" y="0"/>
            <a:chExt cx="7929968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29968" cy="6350000"/>
            </a:xfrm>
            <a:custGeom>
              <a:avLst/>
              <a:gdLst/>
              <a:ahLst/>
              <a:cxnLst/>
              <a:rect r="r" b="b" t="t" l="l"/>
              <a:pathLst>
                <a:path h="6350000" w="7929968">
                  <a:moveTo>
                    <a:pt x="3964984" y="0"/>
                  </a:moveTo>
                  <a:cubicBezTo>
                    <a:pt x="1775184" y="0"/>
                    <a:pt x="0" y="1421496"/>
                    <a:pt x="0" y="3175000"/>
                  </a:cubicBezTo>
                  <a:cubicBezTo>
                    <a:pt x="0" y="4928504"/>
                    <a:pt x="1775184" y="6350000"/>
                    <a:pt x="3964984" y="6350000"/>
                  </a:cubicBezTo>
                  <a:cubicBezTo>
                    <a:pt x="6154784" y="6350000"/>
                    <a:pt x="7929968" y="4928504"/>
                    <a:pt x="7929968" y="3175000"/>
                  </a:cubicBezTo>
                  <a:cubicBezTo>
                    <a:pt x="7929968" y="1421496"/>
                    <a:pt x="6154784" y="0"/>
                    <a:pt x="396498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58677" y="6671287"/>
            <a:ext cx="493026" cy="394795"/>
            <a:chOff x="0" y="0"/>
            <a:chExt cx="7929968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29968" cy="6350000"/>
            </a:xfrm>
            <a:custGeom>
              <a:avLst/>
              <a:gdLst/>
              <a:ahLst/>
              <a:cxnLst/>
              <a:rect r="r" b="b" t="t" l="l"/>
              <a:pathLst>
                <a:path h="6350000" w="7929968">
                  <a:moveTo>
                    <a:pt x="3964984" y="0"/>
                  </a:moveTo>
                  <a:cubicBezTo>
                    <a:pt x="1775184" y="0"/>
                    <a:pt x="0" y="1421496"/>
                    <a:pt x="0" y="3175000"/>
                  </a:cubicBezTo>
                  <a:cubicBezTo>
                    <a:pt x="0" y="4928504"/>
                    <a:pt x="1775184" y="6350000"/>
                    <a:pt x="3964984" y="6350000"/>
                  </a:cubicBezTo>
                  <a:cubicBezTo>
                    <a:pt x="6154784" y="6350000"/>
                    <a:pt x="7929968" y="4928504"/>
                    <a:pt x="7929968" y="3175000"/>
                  </a:cubicBezTo>
                  <a:cubicBezTo>
                    <a:pt x="7929968" y="1421496"/>
                    <a:pt x="6154784" y="0"/>
                    <a:pt x="396498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20952" y="6628424"/>
            <a:ext cx="493026" cy="394795"/>
            <a:chOff x="0" y="0"/>
            <a:chExt cx="7929968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29968" cy="6350000"/>
            </a:xfrm>
            <a:custGeom>
              <a:avLst/>
              <a:gdLst/>
              <a:ahLst/>
              <a:cxnLst/>
              <a:rect r="r" b="b" t="t" l="l"/>
              <a:pathLst>
                <a:path h="6350000" w="7929968">
                  <a:moveTo>
                    <a:pt x="3964984" y="0"/>
                  </a:moveTo>
                  <a:cubicBezTo>
                    <a:pt x="1775184" y="0"/>
                    <a:pt x="0" y="1421496"/>
                    <a:pt x="0" y="3175000"/>
                  </a:cubicBezTo>
                  <a:cubicBezTo>
                    <a:pt x="0" y="4928504"/>
                    <a:pt x="1775184" y="6350000"/>
                    <a:pt x="3964984" y="6350000"/>
                  </a:cubicBezTo>
                  <a:cubicBezTo>
                    <a:pt x="6154784" y="6350000"/>
                    <a:pt x="7929968" y="4928504"/>
                    <a:pt x="7929968" y="3175000"/>
                  </a:cubicBezTo>
                  <a:cubicBezTo>
                    <a:pt x="7929968" y="1421496"/>
                    <a:pt x="6154784" y="0"/>
                    <a:pt x="396498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65145" y="2442118"/>
            <a:ext cx="2476263" cy="2809944"/>
          </a:xfrm>
          <a:custGeom>
            <a:avLst/>
            <a:gdLst/>
            <a:ahLst/>
            <a:cxnLst/>
            <a:rect r="r" b="b" t="t" l="l"/>
            <a:pathLst>
              <a:path h="2809944" w="2476263">
                <a:moveTo>
                  <a:pt x="0" y="0"/>
                </a:moveTo>
                <a:lnTo>
                  <a:pt x="2476263" y="0"/>
                </a:lnTo>
                <a:lnTo>
                  <a:pt x="2476263" y="2809944"/>
                </a:lnTo>
                <a:lnTo>
                  <a:pt x="0" y="2809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87445" y="2459322"/>
            <a:ext cx="3053067" cy="2900414"/>
          </a:xfrm>
          <a:custGeom>
            <a:avLst/>
            <a:gdLst/>
            <a:ahLst/>
            <a:cxnLst/>
            <a:rect r="r" b="b" t="t" l="l"/>
            <a:pathLst>
              <a:path h="2900414" w="3053067">
                <a:moveTo>
                  <a:pt x="0" y="0"/>
                </a:moveTo>
                <a:lnTo>
                  <a:pt x="3053067" y="0"/>
                </a:lnTo>
                <a:lnTo>
                  <a:pt x="3053067" y="2900414"/>
                </a:lnTo>
                <a:lnTo>
                  <a:pt x="0" y="2900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68650" y="3394381"/>
            <a:ext cx="638005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額外功能實現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1778" y="7663207"/>
            <a:ext cx="5662275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利用 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QTreeWidgetItem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的可勾選屬性，當使用者變更勾選狀態時，透過 itemChanged 訊號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更新對應任務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在資料結構中的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完成狀態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2929" y="7167907"/>
            <a:ext cx="395997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勾選是否完成任務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4053" y="7663207"/>
            <a:ext cx="5662275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刪除功能透過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取得使用者在清單中選取的項目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，並從任務資料容器中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移除相符資料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；搜尋與過濾則根據輸入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文字比對任務內容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，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動態隱藏不符合條件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的清單項目。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25204" y="7167907"/>
            <a:ext cx="395997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刪除/搜尋/過濾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39001" y="7663207"/>
            <a:ext cx="5662275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程式於啟動時依照預先定義的假日日期清單，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自動建立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對應的任務資料並加入任務集合中，並透過</a:t>
            </a:r>
            <a:r>
              <a:rPr lang="en-US" sz="2499">
                <a:solidFill>
                  <a:srgbClr val="FF3131"/>
                </a:solidFill>
                <a:latin typeface="Public Sans"/>
                <a:ea typeface="Public Sans"/>
                <a:cs typeface="Public Sans"/>
                <a:sym typeface="Public Sans"/>
              </a:rPr>
              <a:t>檢查避免重複加入相同假日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90152" y="7167907"/>
            <a:ext cx="395997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自動加入國定假日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631316" y="4095750"/>
            <a:ext cx="9025367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35"/>
              </a:lnSpc>
            </a:pPr>
            <a:r>
              <a:rPr lang="en-US" b="true" sz="13779" i="true" spc="-675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程式DEMO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5408612"/>
            <a:ext cx="1690612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3075293" y="7090724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3075293" y="7763090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3075293" y="8439448"/>
            <a:ext cx="502021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595436" y="2996304"/>
            <a:ext cx="8766306" cy="5821543"/>
            <a:chOff x="0" y="0"/>
            <a:chExt cx="122394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3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3946">
                  <a:moveTo>
                    <a:pt x="17663" y="0"/>
                  </a:moveTo>
                  <a:lnTo>
                    <a:pt x="1206283" y="0"/>
                  </a:lnTo>
                  <a:cubicBezTo>
                    <a:pt x="1216038" y="0"/>
                    <a:pt x="1223946" y="7908"/>
                    <a:pt x="1223946" y="17663"/>
                  </a:cubicBezTo>
                  <a:lnTo>
                    <a:pt x="1223946" y="795137"/>
                  </a:lnTo>
                  <a:cubicBezTo>
                    <a:pt x="1223946" y="799822"/>
                    <a:pt x="1222085" y="804314"/>
                    <a:pt x="1218773" y="807627"/>
                  </a:cubicBezTo>
                  <a:cubicBezTo>
                    <a:pt x="1215460" y="810939"/>
                    <a:pt x="1210968" y="812800"/>
                    <a:pt x="1206283" y="812800"/>
                  </a:cubicBezTo>
                  <a:lnTo>
                    <a:pt x="17663" y="812800"/>
                  </a:lnTo>
                  <a:cubicBezTo>
                    <a:pt x="12978" y="812800"/>
                    <a:pt x="8486" y="810939"/>
                    <a:pt x="5173" y="807627"/>
                  </a:cubicBezTo>
                  <a:cubicBezTo>
                    <a:pt x="1861" y="804314"/>
                    <a:pt x="0" y="799822"/>
                    <a:pt x="0" y="795137"/>
                  </a:cubicBezTo>
                  <a:lnTo>
                    <a:pt x="0" y="17663"/>
                  </a:lnTo>
                  <a:cubicBezTo>
                    <a:pt x="0" y="12978"/>
                    <a:pt x="1861" y="8486"/>
                    <a:pt x="5173" y="5173"/>
                  </a:cubicBezTo>
                  <a:cubicBezTo>
                    <a:pt x="8486" y="1861"/>
                    <a:pt x="12978" y="0"/>
                    <a:pt x="1766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33" r="0" b="-633"/>
              </a:stretch>
            </a:blipFill>
            <a:ln w="1238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56266" y="8453736"/>
            <a:ext cx="2204965" cy="1695067"/>
          </a:xfrm>
          <a:custGeom>
            <a:avLst/>
            <a:gdLst/>
            <a:ahLst/>
            <a:cxnLst/>
            <a:rect r="r" b="b" t="t" l="l"/>
            <a:pathLst>
              <a:path h="1695067" w="2204965">
                <a:moveTo>
                  <a:pt x="0" y="0"/>
                </a:moveTo>
                <a:lnTo>
                  <a:pt x="2204965" y="0"/>
                </a:lnTo>
                <a:lnTo>
                  <a:pt x="2204965" y="1695067"/>
                </a:lnTo>
                <a:lnTo>
                  <a:pt x="0" y="1695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333750"/>
            <a:ext cx="81153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58685" y="7197940"/>
            <a:ext cx="59400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41343149 賴佳暐  (報告製作、程式建議)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58685" y="7874298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41343151 鍾定志  (程式實作)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58685" y="6521665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41343106  丁祥誌 (口頭報告)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58685" y="5057775"/>
            <a:ext cx="608531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For your Listening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16008" y="971550"/>
            <a:ext cx="10559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第15組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DAG9X2jycgI</dc:identifier>
  <dcterms:modified xsi:type="dcterms:W3CDTF">2011-08-01T06:04:30Z</dcterms:modified>
  <cp:revision>1</cp:revision>
  <dc:title>第15組 視窗程式設計期末專題</dc:title>
</cp:coreProperties>
</file>